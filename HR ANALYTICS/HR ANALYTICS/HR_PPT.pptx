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21"/>
  </p:notesMasterIdLst>
  <p:handoutMasterIdLst>
    <p:handoutMasterId r:id="rId22"/>
  </p:handoutMasterIdLst>
  <p:sldIdLst>
    <p:sldId id="317" r:id="rId5"/>
    <p:sldId id="278" r:id="rId6"/>
    <p:sldId id="310" r:id="rId7"/>
    <p:sldId id="312" r:id="rId8"/>
    <p:sldId id="316" r:id="rId9"/>
    <p:sldId id="315" r:id="rId10"/>
    <p:sldId id="320" r:id="rId11"/>
    <p:sldId id="263" r:id="rId12"/>
    <p:sldId id="321" r:id="rId13"/>
    <p:sldId id="322" r:id="rId14"/>
    <p:sldId id="323" r:id="rId15"/>
    <p:sldId id="324" r:id="rId16"/>
    <p:sldId id="265" r:id="rId17"/>
    <p:sldId id="261" r:id="rId18"/>
    <p:sldId id="266" r:id="rId19"/>
    <p:sldId id="26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1B845-0DD3-4228-8BFE-BE03356E9746}" v="7" dt="2024-06-12T06:38:32.104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6/12/2024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43723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89381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12566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0026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1321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62671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601728-CD6E-EE6B-CB1C-C0BD000BD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1E4DEFB-3DC7-FDB4-2476-4BB152EE6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0A3C608-60A5-549B-2983-1C99149B5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F116350-790B-0219-0DC7-B0749CFCD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62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125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23220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3104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39783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7263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29148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00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924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94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37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342420-D60B-05E9-4BDA-73D24E27DA9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54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7" r:id="rId13"/>
    <p:sldLayoutId id="2147483700" r:id="rId14"/>
    <p:sldLayoutId id="2147483702" r:id="rId15"/>
    <p:sldLayoutId id="2147483703" r:id="rId16"/>
    <p:sldLayoutId id="2147483705" r:id="rId17"/>
    <p:sldLayoutId id="2147483654" r:id="rId1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7484" y="-53382"/>
            <a:ext cx="4385187" cy="973393"/>
          </a:xfrm>
        </p:spPr>
        <p:txBody>
          <a:bodyPr anchor="ctr"/>
          <a:lstStyle/>
          <a:p>
            <a:r>
              <a:rPr lang="en-US" sz="3600" dirty="0"/>
              <a:t>HR</a:t>
            </a:r>
            <a:r>
              <a:rPr lang="en-US" sz="2800" dirty="0"/>
              <a:t> </a:t>
            </a:r>
            <a:r>
              <a:rPr lang="en-US" sz="3600" dirty="0"/>
              <a:t>ANALYTICS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3949AD-8459-E86A-B1BA-F42F999855DE}"/>
              </a:ext>
            </a:extLst>
          </p:cNvPr>
          <p:cNvSpPr txBox="1"/>
          <p:nvPr/>
        </p:nvSpPr>
        <p:spPr>
          <a:xfrm>
            <a:off x="8150941" y="5294671"/>
            <a:ext cx="3746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BY </a:t>
            </a:r>
          </a:p>
          <a:p>
            <a:pPr algn="ctr"/>
            <a:r>
              <a:rPr lang="en-IN" sz="3200" b="1" dirty="0"/>
              <a:t>GROUP-3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06B08-AB2E-C02E-F7A0-CA6207B41187}"/>
              </a:ext>
            </a:extLst>
          </p:cNvPr>
          <p:cNvSpPr txBox="1"/>
          <p:nvPr/>
        </p:nvSpPr>
        <p:spPr>
          <a:xfrm>
            <a:off x="3097160" y="2444115"/>
            <a:ext cx="7492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+mj-lt"/>
              </a:rPr>
              <a:t>Employee Retention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overcoming nervousness</a:t>
            </a:r>
            <a:endParaRPr lang="en-US" dirty="0"/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effective delivery techniques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/>
              <a:t>Effective body language enhances your message, making it more impactful and memorable: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/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  <a:p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32799362"/>
              </p:ext>
            </p:extLst>
          </p:nvPr>
        </p:nvGraphicFramePr>
        <p:xfrm>
          <a:off x="4097338" y="2038350"/>
          <a:ext cx="7180262" cy="390254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383731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07717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359678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359678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812163">
                <a:tc>
                  <a:txBody>
                    <a:bodyPr/>
                    <a:lstStyle/>
                    <a:p>
                      <a:r>
                        <a:rPr lang="en-US" sz="2000" b="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C309AD-C594-BE32-50B1-A621865B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1" y="275303"/>
            <a:ext cx="10360152" cy="914400"/>
          </a:xfrm>
        </p:spPr>
        <p:txBody>
          <a:bodyPr/>
          <a:lstStyle/>
          <a:p>
            <a:pPr algn="ctr"/>
            <a:r>
              <a:rPr lang="en-IN" dirty="0"/>
              <a:t>EXCEL DASHBOARD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A66131-FB1E-06D6-775F-89C05568E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57" y="1104112"/>
            <a:ext cx="10896600" cy="530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Average Attrition Rate for All Departments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Attrition Rate</a:t>
            </a:r>
            <a:r>
              <a:rPr lang="en-US" sz="2800" dirty="0"/>
              <a:t>: The percentage of employees who leave a department or the organization over a specific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Average Attrition Rate for All Departments</a:t>
            </a:r>
            <a:r>
              <a:rPr lang="en-US" sz="2800" dirty="0"/>
              <a:t>: An overall metric showing the average rate at which employees are leaving across all departments.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2725E-148B-1BDE-5BAD-B36C01801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367" y="218211"/>
            <a:ext cx="3976924" cy="333548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DD3D2F-7C03-D74F-8D14-84C4133B9F47}"/>
              </a:ext>
            </a:extLst>
          </p:cNvPr>
          <p:cNvSpPr txBox="1"/>
          <p:nvPr/>
        </p:nvSpPr>
        <p:spPr>
          <a:xfrm>
            <a:off x="2420413" y="4177147"/>
            <a:ext cx="6754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Displays attrition rates for each department, with an average line showing the overall average attrition rate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21912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274638"/>
            <a:ext cx="8094517" cy="1107337"/>
          </a:xfrm>
        </p:spPr>
        <p:txBody>
          <a:bodyPr>
            <a:normAutofit fontScale="90000"/>
          </a:bodyPr>
          <a:lstStyle/>
          <a:p>
            <a:r>
              <a:rPr dirty="0"/>
              <a:t>Average Hourly Rate of Male Research Scientists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6B235F-D207-CDC0-3897-6917344B3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974" y="1478144"/>
            <a:ext cx="89777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EXPLANATION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1200150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average amount paid per hour to male research </a:t>
            </a:r>
            <a:r>
              <a:rPr lang="en-US" altLang="en-US" dirty="0" err="1">
                <a:latin typeface="Arial" panose="020B0604020202020204" pitchFamily="34" charset="0"/>
              </a:rPr>
              <a:t>scientists.This</a:t>
            </a:r>
            <a:r>
              <a:rPr lang="en-US" altLang="en-US" dirty="0">
                <a:latin typeface="Arial" panose="020B0604020202020204" pitchFamily="34" charset="0"/>
              </a:rPr>
              <a:t> metric helps to ensure equitable pay and can be used to identify any pay discrepancies.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5D0804-E939-6E42-2E7E-0D7EE9CCD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509" y="3089625"/>
            <a:ext cx="5434446" cy="2039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28CC6-C3F6-972C-4E44-4F08867A9BCB}"/>
              </a:ext>
            </a:extLst>
          </p:cNvPr>
          <p:cNvSpPr txBox="1"/>
          <p:nvPr/>
        </p:nvSpPr>
        <p:spPr>
          <a:xfrm>
            <a:off x="2573482" y="5347112"/>
            <a:ext cx="69411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simple card displaying the average hourly rate for male research scientists.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Attrition Rate Vs Monthly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A6B38F-F802-8042-F075-C25684E1328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35727" y="1493532"/>
            <a:ext cx="886344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EXPLANATION: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Examines the relationship between monthly income and attrition rates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   Identifies if income levels influence employee retention.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5FF68F-1D88-FDE2-D704-99073B1E1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743481"/>
            <a:ext cx="3636817" cy="30109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A3D2-70E0-72BA-C3E7-2D2582B65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467592"/>
            <a:ext cx="8229600" cy="5658572"/>
          </a:xfrm>
        </p:spPr>
        <p:txBody>
          <a:bodyPr>
            <a:normAutofit/>
          </a:bodyPr>
          <a:lstStyle/>
          <a:p>
            <a:r>
              <a:rPr lang="en-US" sz="2400" dirty="0"/>
              <a:t>The chart may show a higher proportion of attrition in lower income brackets.</a:t>
            </a:r>
          </a:p>
          <a:p>
            <a:r>
              <a:rPr lang="en-US" sz="2400" dirty="0"/>
              <a:t> This can indicate that employees with lower salaries are more likely to leave the company.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663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Average Working Years for Each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Explanation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320701-937F-2788-FE07-D960EA31210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77390" y="2262714"/>
            <a:ext cx="72216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Average number of years employees have worked in each department.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Indicates departmental stability and employee loyalty. 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23D64A6-AE42-9BF7-9244-79693E5BF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66" y="3716003"/>
            <a:ext cx="3880371" cy="25927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9488-5E3B-5F37-A703-EE2872BE8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382" y="311728"/>
            <a:ext cx="8707582" cy="60682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Departments with High Average Working Years</a:t>
            </a:r>
            <a:r>
              <a:rPr lang="en-US" sz="2000" dirty="0"/>
              <a:t>: Departments with high average working years may indicate good employee retention, suggesting positive work environments and job satisfaction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Departments with Low Average Working Years</a:t>
            </a:r>
            <a:r>
              <a:rPr lang="en-US" sz="2600" dirty="0"/>
              <a:t>: </a:t>
            </a:r>
            <a:r>
              <a:rPr lang="en-US" sz="2000" dirty="0"/>
              <a:t>Conversely, departments with lower average working years might be experiencing higher turnover, which could signal issues like job dissatisfaction, lack of growth opportunities, or other challenges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bar chart visualizes the average working years for each department, making it easy to compare retention across different areas of the organization. Each bar represents a department, and the height of the bar indicates the average tenure of employees in that department.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47230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Role Vs Work Life Balance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7FF871-A8B1-B8C7-AAA9-58433B1A3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456" y="3061113"/>
            <a:ext cx="3948544" cy="2524477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1441D3C-355C-87B7-44E3-2059E9876AA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81200" y="1611320"/>
            <a:ext cx="8686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EXPLANATION: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Compares work life balance ratings across different job roles.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Identifies roles that may require better work life balance initiatives.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4739-C46F-3D99-42C5-2BB4344A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405246"/>
            <a:ext cx="8229600" cy="5720918"/>
          </a:xfrm>
        </p:spPr>
        <p:txBody>
          <a:bodyPr/>
          <a:lstStyle/>
          <a:p>
            <a:r>
              <a:rPr lang="en-US" sz="2400" b="1" dirty="0"/>
              <a:t>Variation in Work-Life Balance Across Job Roles</a:t>
            </a:r>
            <a:r>
              <a:rPr lang="en-US" dirty="0"/>
              <a:t>: </a:t>
            </a:r>
            <a:r>
              <a:rPr lang="en-US" sz="2000" dirty="0"/>
              <a:t>The bar chart reveals how different job roles perceive their work-life balance. Roles with lower work-life balance scores might indicate higher job demands or less flexibility.</a:t>
            </a:r>
          </a:p>
          <a:p>
            <a:r>
              <a:rPr lang="en-IN" sz="2000" b="1" dirty="0"/>
              <a:t>High Work-Life Balance Roles</a:t>
            </a:r>
            <a:r>
              <a:rPr lang="en-IN" sz="2000" dirty="0"/>
              <a:t>: </a:t>
            </a:r>
            <a:r>
              <a:rPr lang="en-US" sz="2000" dirty="0"/>
              <a:t>Identifying job roles with high work-life balance scores can help understand which roles offer better flexibility, job satisfaction, and manageable workloads</a:t>
            </a:r>
            <a:r>
              <a:rPr lang="en-US" sz="1200" dirty="0"/>
              <a:t>.</a:t>
            </a:r>
          </a:p>
          <a:p>
            <a:r>
              <a:rPr lang="en-US" sz="2000" b="1" dirty="0"/>
              <a:t>Low Work-Life Balance Roles</a:t>
            </a:r>
            <a:r>
              <a:rPr lang="en-US" sz="1200" dirty="0"/>
              <a:t>: </a:t>
            </a:r>
            <a:r>
              <a:rPr lang="en-US" sz="2000" dirty="0"/>
              <a:t>Job roles with lower work-life balance scores may require attention to improve conditions, which could include workload management, flexible working hours, and additional support.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9794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Attrition Rate Vs Years Since Last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Analyzes if the number of years since the last promotion affects the likelihood of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Identifies if there is a need for more frequent promotions or career development opportunities</a:t>
            </a:r>
            <a:r>
              <a:rPr lang="en-US" dirty="0"/>
              <a:t>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E3CB5-7499-D085-E216-0AA12306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48" y="3863182"/>
            <a:ext cx="3334215" cy="258163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164</TotalTime>
  <Words>663</Words>
  <Application>Microsoft Office PowerPoint</Application>
  <PresentationFormat>Widescreen</PresentationFormat>
  <Paragraphs>88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Courier New</vt:lpstr>
      <vt:lpstr>Sagona Book</vt:lpstr>
      <vt:lpstr>Tw Cen MT</vt:lpstr>
      <vt:lpstr>Tw Cen MT Condensed</vt:lpstr>
      <vt:lpstr>Wingdings 3</vt:lpstr>
      <vt:lpstr>Integral</vt:lpstr>
      <vt:lpstr>HR ANALYTICS</vt:lpstr>
      <vt:lpstr>overcoming nervousness</vt:lpstr>
      <vt:lpstr>effective delivery techniques</vt:lpstr>
      <vt:lpstr>speaking impact</vt:lpstr>
      <vt:lpstr>speaking impact </vt:lpstr>
      <vt:lpstr>EXCEL DASHBOARD </vt:lpstr>
      <vt:lpstr>Average Attrition Rate for All Departments</vt:lpstr>
      <vt:lpstr>PowerPoint Presentation</vt:lpstr>
      <vt:lpstr>Average Hourly Rate of Male Research Scientists</vt:lpstr>
      <vt:lpstr>Attrition Rate Vs Monthly Income</vt:lpstr>
      <vt:lpstr>PowerPoint Presentation</vt:lpstr>
      <vt:lpstr>Average Working Years for Each Department</vt:lpstr>
      <vt:lpstr>PowerPoint Presentation</vt:lpstr>
      <vt:lpstr>Job Role Vs Work Life Balance</vt:lpstr>
      <vt:lpstr>PowerPoint Presentation</vt:lpstr>
      <vt:lpstr>Attrition Rate Vs Years Since Last Promotion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lineetha yatham</dc:creator>
  <cp:lastModifiedBy>lineetha yatham</cp:lastModifiedBy>
  <cp:revision>2</cp:revision>
  <dcterms:created xsi:type="dcterms:W3CDTF">2024-06-09T16:13:11Z</dcterms:created>
  <dcterms:modified xsi:type="dcterms:W3CDTF">2024-06-12T07:43:19Z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